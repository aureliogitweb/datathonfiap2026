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Adequado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32.7</c:v>
                </c:pt>
                <c:pt idx="1">
                  <c:v>41.9</c:v>
                </c:pt>
                <c:pt idx="2">
                  <c:v>65.2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Moderado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65.8</c:v>
                </c:pt>
                <c:pt idx="1">
                  <c:v>57.7</c:v>
                </c:pt>
                <c:pt idx="2">
                  <c:v>34.4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Severo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1.5</c:v>
                </c:pt>
                <c:pt idx="1">
                  <c:v>0.4</c:v>
                </c:pt>
                <c:pt idx="2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IDA (desempenho real)</c:v>
                </c:pt>
              </c:strCache>
            </c:strRef>
          </c:tx>
          <c:spPr>
            <a:solidFill>
              <a:srgbClr val="1623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
(menor)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
(maior)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3.54</c:v>
                </c:pt>
                <c:pt idx="1">
                  <c:v>5.51</c:v>
                </c:pt>
                <c:pt idx="2">
                  <c:v>6.71</c:v>
                </c:pt>
                <c:pt idx="3">
                  <c:v>7.7</c:v>
                </c:pt>
                <c:pt idx="4">
                  <c:v>8.85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IAA (autoavaliação)</c:v>
                </c:pt>
              </c:strCache>
            </c:strRef>
          </c:tx>
          <c:spPr>
            <a:solidFill>
              <a:srgbClr val="E8A33D"/>
            </a:solidFill>
            <a:ln w="508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
(menor)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
(maior)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8.5</c:v>
                </c:pt>
                <c:pt idx="1">
                  <c:v>8.61</c:v>
                </c:pt>
                <c:pt idx="2">
                  <c:v>8.63</c:v>
                </c:pt>
                <c:pt idx="3">
                  <c:v>8.73</c:v>
                </c:pt>
                <c:pt idx="4">
                  <c:v>8.92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Tres ciclos da pesquisa PEDE, 1.661 alunos acompanhados. A analise responde as perguntas do enunciado e entrega um modelo preditivo de risco, disponibilizado em aplicacao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conclusao e a mais defensavel. A proporcao de alunos em nivel adequado dobrou. Aplicamos os limites de Manski: mesmo assumindo que todos os alunos que sairam do programa tenham piorado, a melhora se mantem. O vies de sobrevivencia nao explica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esta o achado que reenquadra o problema. O IAN nao e uma avaliacao: e a defasagem recodificada. E a defasagem e simplesmente fase menos fase ideal. Quando olhamos de onde vem a piora, 98,7% dos casos sao o aluno que ficou na mesma fase enquanto a regua avancou. Quem nao e promovido piora em 53% dos casos; quem e promovido, em 0,3%.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autoavaliacao e praticamente constante, independentemente do desempenho real. Correlacao de Spearman de 0,135. Isso nao e curiosidade psicologica: e justificativa quantitativa para busca 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25 e 30 por cento dos alunos saem por ano, e a saida e praticamente irreversivel: apenas 4 alunos retornaram em todo o painel. O engajamento discrimina evasao com p igual a 7 elevado a menos 14, e e nulo para defasagem. Sao dois sistemas de alerta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Controlando a defasagem inicial, alunos Ametista avancam 1,35 fase enquanto Quartzo avancam 0,30. E o efeito Mateus. Reportamos como indicio porque o numero de alunos Quartzo na coorte e pequeno, mas se confirmado e a conclusao mais importante para o desenho do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preve agravamento de defasagem. Comparamos cinco algoritmos. A regressao logistica venceu no estrato que importa e entrega probabilidade calibrada. Indice de Brier de 0,107 significa que quando o modelo diz 30 por cento, cerca de 30 por cento realmente agravam.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analise virou ferramenta. Tres modos de uso: lista priorizada para a reuniao pedagogica, consulta individual durante atendimento, e documentacao do modelo dentro da propria aplicacao.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recomendacoes ordenadas por impacto sobre custo. A primeira e a de melhor retorno: o alerta de evasao usa dado que a instituicao ja coleta. A quarta e estrutural e mexe no desenho pedagogico, portanto tem custo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Declaramos as limitacoes porque a ferramenta sera usada por educadores. E deixamos a pergunta central: se a defasagem medida e descompasso de calendario, a intervencao mais eficaz e estrutural, nao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ANEXO. Nao apresentar no video. Use se a banca perguntar por que a logistica foi escolhida sobre o Random Forest. Ponto-chave: os modelos EMPATAM (p=0,25), e o criterio de desempate foi definido antes de rodar.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ANEXO. Nao apresentar no video. Use se a banca questionar o valor do modelo ou o IPV. Ponto-chave: o ganho pequeno das 11 variaveis educacionais E a conclusao do trabalho, nao um defeito. A circularidade do IPV e limitacao declarada.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ANEXO. Nao apresentar no video. Use se perguntarem sobre vazamento ou validacao. Ponto-chave: a barreira e automatica, o codigo quebra se algo proibido entrar. Maior correlacao observada: 0,308.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PASSOS MÁGICOS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três anos de dados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revelam sobre o programa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 Pesquisa Extensiva do Desenvolvimento Educacional, 2022 a 2024, com modelo preditivo de risco de defasagem.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1.661 alunos   ·   3.030 observações   ·   1.365 transições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programa funciona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Coorte fechada: os mesmos 468 alunos acompanhados nos três ciclos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373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406640" y="19019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543800" y="2670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nível adequado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92640" y="17373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692640" y="19019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65,2%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829800" y="26700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nível adequado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06640" y="3657600"/>
            <a:ext cx="4389120" cy="2194560"/>
          </a:xfrm>
          <a:prstGeom prst="roundRect">
            <a:avLst>
              <a:gd name="adj" fmla="val 3333"/>
            </a:avLst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3524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direta, sem estimativa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35240" y="42062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coorte, 58,8% melhoraram e 10,3% pioraram (Wilcoxon, p = 7,5e-35). É medição direta, sem estimar o que aconteceu com quem saiu.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comparação entre ciclos supõe atrição parecida nos dois anos: 30,2% e 24,6%.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o indicador não mede o que o nome sugere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035040" cy="841248"/>
          </a:xfrm>
          <a:prstGeom prst="roundRect">
            <a:avLst>
              <a:gd name="adj" fmla="val 6522"/>
            </a:avLst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8470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− Fase Ideal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18470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Defasagem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18470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99,93% das linhas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035040" cy="841248"/>
          </a:xfrm>
          <a:prstGeom prst="roundRect">
            <a:avLst>
              <a:gd name="adj" fmla="val 6522"/>
            </a:avLst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898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2898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IAN (10 / 5 / 2,5)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28986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fixo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6035040" cy="841248"/>
          </a:xfrm>
          <a:prstGeom prst="roundRect">
            <a:avLst>
              <a:gd name="adj" fmla="val 6522"/>
            </a:avLst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39502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compõe o INDE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3950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0,10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19202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98,7%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7315200" y="3017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pioras têm a mesma assinatura: o aluno permaneceu na mesma fase enquanto a fase ideal avançou.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411480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43800" y="42519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reprovação nem queda de desempenho. É descompasso entre o calendário da Passos Mágicos e o calendário escolar.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mais precisa de ajuda não sabe que precisa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real e autoavaliação, por quintil de desempenho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1828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0,135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863840" y="2697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entre desempenho e autoavaliação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63840" y="338328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0924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92440" y="3931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desempenho 3,54 se avaliam praticamente igual aos de 8,85.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que espera o aluno pedir ajuda nunca alcança o quintil inferior. A busca precisa ser ativa.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evasão é o problema mais grave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possui sinal antecedente que a instituição já coleta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9476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25-30%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15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alunos saem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ano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78308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108960" y="19476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46120" y="2715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retornaram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 o painel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em 2023, por desfecho em 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34440" y="4005072"/>
            <a:ext cx="3000146" cy="201168"/>
          </a:xfrm>
          <a:prstGeom prst="roundRect">
            <a:avLst>
              <a:gd name="adj" fmla="val 13636"/>
            </a:avLst>
          </a:prstGeom>
          <a:solidFill>
            <a:srgbClr val="2E8B57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234440" y="4242816"/>
            <a:ext cx="2510485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26026" y="39593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36365" y="41970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360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34440" y="4663440"/>
            <a:ext cx="2424989" cy="201168"/>
          </a:xfrm>
          <a:prstGeom prst="roundRect">
            <a:avLst>
              <a:gd name="adj" fmla="val 13636"/>
            </a:avLst>
          </a:prstGeom>
          <a:solidFill>
            <a:srgbClr val="2E8B57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234440" y="4901184"/>
            <a:ext cx="2160727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750869" y="4617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6607" y="48554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2943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34440" y="5321808"/>
            <a:ext cx="1422349" cy="201168"/>
          </a:xfrm>
          <a:prstGeom prst="roundRect">
            <a:avLst>
              <a:gd name="adj" fmla="val 13636"/>
            </a:avLst>
          </a:prstGeom>
          <a:solidFill>
            <a:srgbClr val="2E8B57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234440" y="5559552"/>
            <a:ext cx="932688" cy="201168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8229" y="5276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58568" y="55138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5943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5943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evadiu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17830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37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fenômenos distintos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23317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engajamento tem a associação mais forte com evasão e é praticamente inútil para prever defasagem.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univariada. Nas fases finais, sair pode significar concluir o programa.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77640"/>
          <a:ext cx="53035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IEG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Poder preditivo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evasão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7e-14 (univariado)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defasagem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0,523 (nulo)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programa beneficia mais quem já estava melhor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Avanço médio em fases entre 2022 e 2024, partindo da mesma defasagem inicial de −2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Ametista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0" y="1993392"/>
            <a:ext cx="4937760" cy="420624"/>
          </a:xfrm>
          <a:prstGeom prst="roundRect">
            <a:avLst>
              <a:gd name="adj" fmla="val 10870"/>
            </a:avLst>
          </a:prstGeom>
          <a:solidFill>
            <a:srgbClr val="7B5EA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866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Topázio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2907792"/>
            <a:ext cx="4718304" cy="420624"/>
          </a:xfrm>
          <a:prstGeom prst="roundRect">
            <a:avLst>
              <a:gd name="adj" fmla="val 10870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67144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+1,29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3822192"/>
            <a:ext cx="2962656" cy="420624"/>
          </a:xfrm>
          <a:prstGeom prst="roundRect">
            <a:avLst>
              <a:gd name="adj" fmla="val 10870"/>
            </a:avLst>
          </a:prstGeom>
          <a:solidFill>
            <a:srgbClr val="5B8FA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11496" y="3749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+0,81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4736592"/>
            <a:ext cx="1097280" cy="420624"/>
          </a:xfrm>
          <a:prstGeom prst="roundRect">
            <a:avLst>
              <a:gd name="adj" fmla="val 10870"/>
            </a:avLst>
          </a:prstGeom>
          <a:solidFill>
            <a:srgbClr val="9AA5B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46120" y="4663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+0,30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192024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FDF6EA"/>
          </a:solidFill>
          <a:ln w="12700">
            <a:solidFill>
              <a:srgbClr val="F0DFC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8388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Mateus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183880" y="26060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classificados como Quartzo, que são os de maior vulnerabilidade, avançam quatro vezes menos que os Ametista, mesmo partindo da mesma defasagem.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contraria a missão declarada do programa e merece investigação.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Reportado como indício: apenas 10 alunos Quartzo neste recorte.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preditivo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de a defasagem do aluno agravar no ciclo seguinte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no grupo de fase avançada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2203704"/>
            <a:ext cx="3726180" cy="274320"/>
          </a:xfrm>
          <a:prstGeom prst="roundRect">
            <a:avLst>
              <a:gd name="adj" fmla="val 13333"/>
            </a:avLst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0654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770632"/>
            <a:ext cx="2994660" cy="274320"/>
          </a:xfrm>
          <a:prstGeom prst="roundRect">
            <a:avLst>
              <a:gd name="adj" fmla="val 13333"/>
            </a:avLst>
          </a:prstGeom>
          <a:solidFill>
            <a:srgbClr val="8895B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875020" y="2670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0,262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369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3337560"/>
            <a:ext cx="2674620" cy="274320"/>
          </a:xfrm>
          <a:prstGeom prst="roundRect">
            <a:avLst>
              <a:gd name="adj" fmla="val 13333"/>
            </a:avLst>
          </a:prstGeom>
          <a:solidFill>
            <a:srgbClr val="8895B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554980" y="32369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0,234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0390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3904488"/>
            <a:ext cx="2160270" cy="274320"/>
          </a:xfrm>
          <a:prstGeom prst="roundRect">
            <a:avLst>
              <a:gd name="adj" fmla="val 13333"/>
            </a:avLst>
          </a:prstGeom>
          <a:solidFill>
            <a:srgbClr val="8895B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40630" y="38039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370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 (só fase)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4471416"/>
            <a:ext cx="960120" cy="274320"/>
          </a:xfrm>
          <a:prstGeom prst="roundRect">
            <a:avLst>
              <a:gd name="adj" fmla="val 13333"/>
            </a:avLst>
          </a:prstGeom>
          <a:solidFill>
            <a:srgbClr val="C7CDD9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40480" y="43708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empatam dentro do intervalo de confiança (logística menos Random Forest: +0,057, IC de -0,043 a +0,157). Pelo critério definido antes de rodar, em empate fica o modelo mais simples e mais bem calibrado.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7830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89520" y="19476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0,107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726680" y="2715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Brier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(calibração)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784080" y="17830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784080" y="194767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de 50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921240" y="2715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capturados entre
os 30 de maior risco.
A regra simples: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3657600"/>
            <a:ext cx="4206240" cy="2148840"/>
          </a:xfrm>
          <a:prstGeom prst="roundRect">
            <a:avLst>
              <a:gd name="adj" fmla="val 3404"/>
            </a:avLst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8181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honesta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420624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com as transições de 2022 para 2023. Teste com as de 2023 para 2024.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do futuro entrou no treino, e nenhum aluno aparece nos dois lados de uma mesma validação.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análise para a rotina da equipe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publicada no Streamlit Community Cloud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6112" y="237744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9611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em lote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520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coordenação envia a planilha da turma e recebe a lista ordenada por risco, pronta para a reunião pedagógica.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6552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72584" y="237744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7258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72584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individual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72584" y="3520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atendimento, a equipe informa os dados do aluno e obtém a probabilidade estimada com a leitura em linguagem clara.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49056" y="237744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49056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49056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do modelo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9056" y="35204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forma de validação e limitações ficam visíveis na própria ferramenta, para evitar uso indevido.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apoia a priorização de atendimento. A decisão sobre cada aluno permanece com a equipe pedagógica.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fazer a partir de agora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ordenadas por relação entre impacto e custo de implantação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929384"/>
            <a:ext cx="420624" cy="420624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3794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alerta de evasão por queda de engajamento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46520" y="183794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sinal existe, é forte e usa dado já coletado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0" y="1837944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8EC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2770632"/>
            <a:ext cx="420624" cy="420624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67919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busca ativa no quintil inferior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67919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em dificuldade não se percebe em dificuldade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0" y="267919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3611880"/>
            <a:ext cx="420624" cy="420624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52044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 cálculo do IPS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46520" y="35204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 mudou entre ciclos sem mudança na população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515600" y="352044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0682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8EC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" y="4453128"/>
            <a:ext cx="420624" cy="420624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980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36168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sincronia entre fase e ano escolar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46520" y="436168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de 98,7% dos agravamentos medidos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515600" y="436168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4807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4F6FA"/>
          </a:solidFill>
          <a:ln w="12700">
            <a:solidFill>
              <a:srgbClr val="E8ECF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49808" y="5294376"/>
            <a:ext cx="420624" cy="420624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49808" y="5294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520293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a menor recuperação dos alunos Quartzo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46520" y="52029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 a missão de atender a maior vulnerabilidade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515600" y="5202936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estes dados não permitem afirmar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51560" y="1691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conclusão é causal. A base não possui grupo de controle.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41448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235000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longitudinal enxerga apenas quem permaneceu no programa.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99816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30083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possível distinguir a não promoção pedagógica da administrativa.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58184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36667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mede descompasso de calendário e não desempenho pedagógico.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0100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declarar isso importa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0" y="22860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usada por educadores precisa dizer com clareza o que não sabe. Um número apresentado sem ressalva conduz a decisão errada com aparência de rigor.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fica para a Passos Mágicos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boa parte do que chamamos de defasagem é descompasso entre dois calendários, a intervenção mais eficaz pode não ser acompanhar alunos individualmente, e sim revisar como as fases acompanham o ano escolar.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E8A33D"/>
                </a:solidFill>
                <a:latin typeface="Calibri"/>
              </a:rPr>
              <a:t>ANEXO  ·  NÃO APRESENTADO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6233F"/>
                </a:solidFill>
                <a:latin typeface="Cambria"/>
              </a:rPr>
              <a:t>Por que a regressão logística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Calibri"/>
              </a:rPr>
              <a:t>Os cinco modelos empatam dentro do intervalo de confiança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2468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1">
                <a:solidFill>
                  <a:srgbClr val="16233F"/>
                </a:solidFill>
                <a:latin typeface="Calibri"/>
              </a:rPr>
              <a:t>Regressão logística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368296"/>
            <a:ext cx="822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1">
                <a:solidFill>
                  <a:srgbClr val="16233F"/>
                </a:solidFill>
                <a:latin typeface="Calibri"/>
              </a:rPr>
              <a:t>0,326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368296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[0,230; 0,455]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61488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43784"/>
            <a:ext cx="2468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Calibri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43784"/>
            <a:ext cx="822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Calibri"/>
              </a:rPr>
              <a:t>0,262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43784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[0,185; 0,401]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36976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19272"/>
            <a:ext cx="2468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Calibri"/>
              </a:rPr>
              <a:t>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19272"/>
            <a:ext cx="822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Calibri"/>
              </a:rPr>
              <a:t>0,234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19272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[0,171; 0,347]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12464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2468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Calibri"/>
              </a:rPr>
              <a:t>LightGBM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794760"/>
            <a:ext cx="822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Calibri"/>
              </a:rPr>
              <a:t>0,189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94760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[0,150; 0,276]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87952"/>
            <a:ext cx="5943600" cy="4023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70248"/>
            <a:ext cx="2468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Calibri"/>
              </a:rPr>
              <a:t>Árvore de decisão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270248"/>
            <a:ext cx="822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6B7280"/>
                </a:solidFill>
                <a:latin typeface="Calibri"/>
              </a:rPr>
              <a:t>0,181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270248"/>
            <a:ext cx="21031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[0,139; 0,249]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1920240"/>
            <a:ext cx="59436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16233F"/>
                </a:solidFill>
                <a:latin typeface="Calibri"/>
              </a:rPr>
              <a:t>PR-AUC no estrato de fase avançada, com IC 95%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1920240"/>
            <a:ext cx="4572000" cy="164592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103120"/>
            <a:ext cx="4114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E8A33D"/>
                </a:solidFill>
                <a:latin typeface="Calibri"/>
              </a:rPr>
              <a:t>Diferença pareada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468880"/>
            <a:ext cx="411480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C9D8EE"/>
                </a:solidFill>
                <a:latin typeface="Calibri"/>
              </a:rPr>
              <a:t>Logística menos Random Forest:</a:t>
            </a:r>
          </a:p>
          <a:p>
            <a:r>
              <a:rPr sz="1150" b="0">
                <a:solidFill>
                  <a:srgbClr val="C9D8EE"/>
                </a:solidFill>
                <a:latin typeface="Calibri"/>
              </a:rPr>
              <a:t>+0,057, IC de -0,043 a +0,157,</a:t>
            </a:r>
          </a:p>
          <a:p>
            <a:r>
              <a:rPr sz="1150" b="0">
                <a:solidFill>
                  <a:srgbClr val="C9D8EE"/>
                </a:solidFill>
                <a:latin typeface="Calibri"/>
              </a:rPr>
              <a:t>p = 0,25.</a:t>
            </a:r>
          </a:p>
          <a:p>
            <a:r>
              <a:rPr sz="1150" b="0">
                <a:solidFill>
                  <a:srgbClr val="C9D8EE"/>
                </a:solidFill>
                <a:latin typeface="Calibri"/>
              </a:rPr>
              <a:t/>
            </a:r>
          </a:p>
          <a:p>
            <a:r>
              <a:rPr sz="1150" b="0">
                <a:solidFill>
                  <a:srgbClr val="C9D8EE"/>
                </a:solidFill>
                <a:latin typeface="Calibri"/>
              </a:rPr>
              <a:t>Os modelos empatam.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3703320"/>
            <a:ext cx="4572000" cy="1554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3886200"/>
            <a:ext cx="41148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16233F"/>
                </a:solidFill>
                <a:latin typeface="Calibri"/>
              </a:rPr>
              <a:t>Critério de desempate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251960"/>
            <a:ext cx="41148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374151"/>
                </a:solidFill>
                <a:latin typeface="Calibri"/>
              </a:rPr>
              <a:t>Definido antes de rodar: em empate</a:t>
            </a:r>
          </a:p>
          <a:p>
            <a:r>
              <a:rPr sz="1150" b="0">
                <a:solidFill>
                  <a:srgbClr val="374151"/>
                </a:solidFill>
                <a:latin typeface="Calibri"/>
              </a:rPr>
              <a:t>estatístico, fica o modelo mais</a:t>
            </a:r>
          </a:p>
          <a:p>
            <a:r>
              <a:rPr sz="1150" b="0">
                <a:solidFill>
                  <a:srgbClr val="374151"/>
                </a:solidFill>
                <a:latin typeface="Calibri"/>
              </a:rPr>
              <a:t>simples e mais bem calibrado.</a:t>
            </a:r>
          </a:p>
          <a:p>
            <a:r>
              <a:rPr sz="1150" b="0">
                <a:solidFill>
                  <a:srgbClr val="374151"/>
                </a:solidFill>
                <a:latin typeface="Calibri"/>
              </a:rPr>
              <a:t>A logística atende aos dois.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5394960"/>
            <a:ext cx="4572000" cy="1051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5559552"/>
            <a:ext cx="4114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Calibração é requisito, não refinamento:</a:t>
            </a:r>
          </a:p>
          <a:p>
            <a:r>
              <a:rPr sz="1050" b="0">
                <a:solidFill>
                  <a:srgbClr val="6B7280"/>
                </a:solidFill>
                <a:latin typeface="Calibri"/>
              </a:rPr>
              <a:t>o enunciado pede probabilidade, e o app</a:t>
            </a:r>
          </a:p>
          <a:p>
            <a:r>
              <a:rPr sz="1050" b="0">
                <a:solidFill>
                  <a:srgbClr val="6B7280"/>
                </a:solidFill>
                <a:latin typeface="Calibri"/>
              </a:rPr>
              <a:t>mostra um percentual para quem decide.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E8A33D"/>
                </a:solidFill>
                <a:latin typeface="Calibri"/>
              </a:rPr>
              <a:t>ANEXO  ·  NÃO APRESENTADO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6233F"/>
                </a:solidFill>
                <a:latin typeface="Cambria"/>
              </a:rPr>
              <a:t>O que o modelo não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Calibri"/>
              </a:rPr>
              <a:t>As limitações levantadas na auditoria interna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394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16233F"/>
                </a:solidFill>
                <a:latin typeface="Calibri"/>
              </a:rPr>
              <a:t>Ganho das variáveis educacionais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108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16233F"/>
                </a:solidFill>
                <a:latin typeface="Calibri"/>
              </a:rPr>
              <a:t>Só defasagem e fase ideal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78608"/>
            <a:ext cx="3657600" cy="237744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42032"/>
            <a:ext cx="822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1">
                <a:solidFill>
                  <a:srgbClr val="6B7280"/>
                </a:solidFill>
                <a:latin typeface="Calibri"/>
              </a:rPr>
              <a:t>0,264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108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1">
                <a:solidFill>
                  <a:srgbClr val="16233F"/>
                </a:solidFill>
                <a:latin typeface="Calibri"/>
              </a:rPr>
              <a:t>Conjunto completo, 13 variáveis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55848"/>
            <a:ext cx="4535424" cy="237744"/>
          </a:xfrm>
          <a:prstGeom prst="roundRect">
            <a:avLst>
              <a:gd name="adj" fmla="val 15000"/>
            </a:avLst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3319272"/>
            <a:ext cx="8229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1">
                <a:solidFill>
                  <a:srgbClr val="16233F"/>
                </a:solidFill>
                <a:latin typeface="Calibri"/>
              </a:rPr>
              <a:t>0,327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13632"/>
            <a:ext cx="539496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374151"/>
                </a:solidFill>
                <a:latin typeface="Calibri"/>
              </a:rPr>
              <a:t>Onze variáveis acrescentam 0,063. O fenômeno é</a:t>
            </a:r>
          </a:p>
          <a:p>
            <a:r>
              <a:rPr sz="1150" b="0">
                <a:solidFill>
                  <a:srgbClr val="374151"/>
                </a:solidFill>
                <a:latin typeface="Calibri"/>
              </a:rPr>
              <a:t>majoritariamente estrutural, e essa é a conclusão</a:t>
            </a:r>
          </a:p>
          <a:p>
            <a:r>
              <a:rPr sz="1150" b="0">
                <a:solidFill>
                  <a:srgbClr val="374151"/>
                </a:solidFill>
                <a:latin typeface="Calibri"/>
              </a:rPr>
              <a:t>do trabalho, não um defeito escondido.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4937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16233F"/>
                </a:solidFill>
                <a:latin typeface="Calibri"/>
              </a:rPr>
              <a:t>Por isso a recomendação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86400"/>
            <a:ext cx="493776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50" b="0">
                <a:solidFill>
                  <a:srgbClr val="374151"/>
                </a:solidFill>
                <a:latin typeface="Calibri"/>
              </a:rPr>
              <a:t>Rever a sincronia entre fase e ano escolar,</a:t>
            </a:r>
          </a:p>
          <a:p>
            <a:r>
              <a:rPr sz="1150" b="0">
                <a:solidFill>
                  <a:srgbClr val="374151"/>
                </a:solidFill>
                <a:latin typeface="Calibri"/>
              </a:rPr>
              <a:t>que é intervenção estrutural, vale mais que</a:t>
            </a:r>
          </a:p>
          <a:p>
            <a:r>
              <a:rPr sz="1150" b="0">
                <a:solidFill>
                  <a:srgbClr val="374151"/>
                </a:solidFill>
                <a:latin typeface="Calibri"/>
              </a:rPr>
              <a:t>qualquer lista de priorização individual.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5120640" cy="224028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103120"/>
            <a:ext cx="4663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E8A33D"/>
                </a:solidFill>
                <a:latin typeface="Calibri"/>
              </a:rPr>
              <a:t>Circularidade possível no IPV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468880"/>
            <a:ext cx="466344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>
                <a:solidFill>
                  <a:srgbClr val="C9D8EE"/>
                </a:solidFill>
                <a:latin typeface="Calibri"/>
              </a:rPr>
              <a:t>O IPV é o principal fator de proteção do</a:t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>modelo (OR 0,46) e também o melhor preditor</a:t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>isolado da promoção de fase (AUC 0,679),</a:t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>que é a decisão que gera o alvo.</a:t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>Se a coordenação consulta o IPV ao decidir</a:t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>promoções, parte da previsão é circular.</a:t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>Não há como verificar com esta 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9768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480560"/>
            <a:ext cx="4663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16233F"/>
                </a:solidFill>
                <a:latin typeface="Calibri"/>
              </a:rPr>
              <a:t>Outras limitações declaradas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846320"/>
            <a:ext cx="4663440" cy="1417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>
                <a:solidFill>
                  <a:srgbClr val="374151"/>
                </a:solidFill>
                <a:latin typeface="Calibri"/>
              </a:rPr>
              <a:t>O achado de evasão é associação univariada,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sem controle e sem excluir fases terminais.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As métricas vêm da validação; o modelo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publicado foi retreinado com todos os dados.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Sem grupo de controle, nada aqui é causal.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E8A33D"/>
                </a:solidFill>
                <a:latin typeface="Calibri"/>
              </a:rPr>
              <a:t>ANEXO  ·  NÃO APRESENTADO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6233F"/>
                </a:solidFill>
                <a:latin typeface="Cambria"/>
              </a:rPr>
              <a:t>Como sabemos que não há vazamento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0">
                <a:solidFill>
                  <a:srgbClr val="6B7280"/>
                </a:solidFill>
                <a:latin typeface="Calibri"/>
              </a:rPr>
              <a:t>A cadeia de derivação e as barreiras aplicadas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834640" cy="50292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93976"/>
            <a:ext cx="25603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Fase e Fase Ideal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32888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Calibri"/>
              </a:rPr>
              <a:t>dão origem 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2834640" cy="50292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25496"/>
            <a:ext cx="25603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Defasagem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64408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Calibri"/>
              </a:rPr>
              <a:t>é recodificada 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29000"/>
            <a:ext cx="2834640" cy="5029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57016"/>
            <a:ext cx="25603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95928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Calibri"/>
              </a:rPr>
              <a:t>compõe 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2834640" cy="5029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88536"/>
            <a:ext cx="25603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INDE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27448"/>
            <a:ext cx="2743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Calibri"/>
              </a:rPr>
              <a:t>é agrupado 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2834640" cy="5029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20055"/>
            <a:ext cx="256032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Pedra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011680"/>
            <a:ext cx="2286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1">
                <a:solidFill>
                  <a:srgbClr val="C0392B"/>
                </a:solidFill>
                <a:latin typeface="Calibri"/>
              </a:rPr>
              <a:t>PROIBIDOS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331720"/>
            <a:ext cx="23774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>
                <a:solidFill>
                  <a:srgbClr val="374151"/>
                </a:solidFill>
                <a:latin typeface="Calibri"/>
              </a:rPr>
              <a:t>IAN, INDE e Pedra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não entram como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variáveis preditoras.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A cadeia é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determinística em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99,93% das linhas.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965960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148840"/>
            <a:ext cx="4663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16233F"/>
                </a:solidFill>
                <a:latin typeface="Calibri"/>
              </a:rPr>
              <a:t>Barreira automática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514600"/>
            <a:ext cx="466344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>
                <a:solidFill>
                  <a:srgbClr val="374151"/>
                </a:solidFill>
                <a:latin typeface="Calibri"/>
              </a:rPr>
              <a:t>A função auditar_leakage interrompe a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execução se alguma variável proibida entrar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ou se qualquer uma passar de 0,9 de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correlação com o alvo.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Maior valor observado: 0,308.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4048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2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023360"/>
            <a:ext cx="4663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16233F"/>
                </a:solidFill>
                <a:latin typeface="Calibri"/>
              </a:rPr>
              <a:t>Separação temporal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89120"/>
            <a:ext cx="4663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>
                <a:solidFill>
                  <a:srgbClr val="374151"/>
                </a:solidFill>
                <a:latin typeface="Calibri"/>
              </a:rPr>
              <a:t>Treino em 2022 para 2023, teste em 2023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para 2024. GroupKFold por RA, porque 468</a:t>
            </a:r>
          </a:p>
          <a:p>
            <a:r>
              <a:rPr sz="1100" b="0">
                <a:solidFill>
                  <a:srgbClr val="374151"/>
                </a:solidFill>
                <a:latin typeface="Calibri"/>
              </a:rPr>
              <a:t>alunos aparecem nas duas janelas.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394960"/>
            <a:ext cx="5120640" cy="132588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559552"/>
            <a:ext cx="466344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50" b="1">
                <a:solidFill>
                  <a:srgbClr val="E8A33D"/>
                </a:solidFill>
                <a:latin typeface="Calibri"/>
              </a:rPr>
              <a:t>Calibração verificada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925312"/>
            <a:ext cx="46634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100" b="0">
                <a:solidFill>
                  <a:srgbClr val="C9D8EE"/>
                </a:solidFill>
                <a:latin typeface="Calibri"/>
              </a:rPr>
              <a:t>Previsto contra observado nos cinco quintis.</a:t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>Brier de 0,107. Aplicar Platt por cima não</a:t>
            </a:r>
          </a:p>
          <a:p>
            <a:r>
              <a:rPr sz="1100" b="0">
                <a:solidFill>
                  <a:srgbClr val="C9D8EE"/>
                </a:solidFill>
                <a:latin typeface="Calibri"/>
              </a:rPr>
              <a:t>melhorou, o que confirma o ajuste.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Passos Magicos: analise PEDE 2022-2024</dc:title>
  <dc:subject>PptxGenJS Presentation</dc:subject>
  <dc:creator>Datathon PosTech</dc:creator>
  <cp:lastModifiedBy>Datathon PosTech</cp:lastModifiedBy>
  <cp:revision>1</cp:revision>
  <dcterms:created xsi:type="dcterms:W3CDTF">2026-08-06T15:43:31Z</dcterms:created>
  <dcterms:modified xsi:type="dcterms:W3CDTF">2026-08-06T15:43:31Z</dcterms:modified>
</cp:coreProperties>
</file>